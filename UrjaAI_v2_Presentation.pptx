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Revenue Loss Estimate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Estimate</c:v>
                </c:pt>
              </c:strCache>
            </c:strRef>
          </c:tx>
          <c:spPr>
            <a:solidFill>
              <a:srgbClr val="FFB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DT-22 Unbilled</c:v>
                  </c:pt>
                  <c:pt idx="1">
                    <c:v>DT-07 Tamper</c:v>
                  </c:pt>
                  <c:pt idx="2">
                    <c:v>DT-14 Bypass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26534</c:v>
                </c:pt>
                <c:pt idx="1">
                  <c:v>3631</c:v>
                </c:pt>
                <c:pt idx="2">
                  <c:v>1847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Estimate</c:v>
                </c:pt>
              </c:strCache>
            </c:strRef>
          </c:tx>
          <c:spPr>
            <a:solidFill>
              <a:srgbClr val="00E5C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DT-22 Unbilled</c:v>
                  </c:pt>
                  <c:pt idx="1">
                    <c:v>DT-07 Tamper</c:v>
                  </c:pt>
                  <c:pt idx="2">
                    <c:v>DT-14 Bypass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35900</c:v>
                </c:pt>
                <c:pt idx="1">
                  <c:v>4912</c:v>
                </c:pt>
                <c:pt idx="2">
                  <c:v>2499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A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E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188720"/>
            <a:ext cx="6217920" cy="6217920"/>
          </a:xfrm>
          <a:prstGeom prst="ellipse">
            <a:avLst/>
          </a:prstGeom>
          <a:solidFill>
            <a:srgbClr val="001830"/>
          </a:solidFill>
          <a:ln w="635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548640"/>
            <a:ext cx="4572000" cy="4572000"/>
          </a:xfrm>
          <a:prstGeom prst="ellipse">
            <a:avLst/>
          </a:prstGeom>
          <a:solidFill>
            <a:srgbClr val="001020"/>
          </a:solidFill>
          <a:ln w="6350">
            <a:solidFill>
              <a:srgbClr val="00E5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777240"/>
            <a:ext cx="73152" cy="32918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URJA 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58368" y="20299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Network-Topology-Aware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Intelligence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Electricity Theft Detection &amp; Revenue Recovery for BESCOM, Bengaluru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3310128"/>
            <a:ext cx="5029200" cy="16459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401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Yeshwanth Reddy P G</a:t>
            </a:r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Researcher: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</a:t>
            </a:r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Debugger: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Bezaleel Paul 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36941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University · 1st Year CSE / AI-ML · PAN IIT AI for Bharat 2026 · Theme 8 · BESCOM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29400" y="777240"/>
            <a:ext cx="2148840" cy="86868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81381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9400" y="12893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 Monitored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1801368"/>
            <a:ext cx="2148840" cy="86868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83794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29400" y="23134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2825496"/>
            <a:ext cx="2148840" cy="86868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2862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2940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Found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3849624"/>
            <a:ext cx="2148840" cy="86868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388620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29400" y="4361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BESCOM Bleeds Revenue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AT&amp;C losses cost utilities ₹50,000+ Crore annually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4160520" cy="35204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" cy="352044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AT&amp;C Loss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140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Technical &amp; Commercial losses across India's distribution utilities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Cr+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losses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1% AT&amp;C loss reduction = direct revenue recovery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160520" cy="62179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50292" cy="62179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152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&amp; Bypass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meter bypass at night — entirely invisible to existing systems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87652"/>
            <a:ext cx="4160520" cy="62179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787652"/>
            <a:ext cx="50292" cy="62179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8425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Tampering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20802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manipulated to under-read by 30–70% from a specific 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478024"/>
            <a:ext cx="4160520" cy="62179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78024"/>
            <a:ext cx="50292" cy="62179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Connections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27706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connections drawing constant load with zero billing record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168396"/>
            <a:ext cx="4160520" cy="62179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168396"/>
            <a:ext cx="50292" cy="62179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2232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Alert Fatigue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9744" y="34610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low-confidence alerts daily — inspectors stop responding within weeks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858768"/>
            <a:ext cx="4160520" cy="62179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858768"/>
            <a:ext cx="50292" cy="621792"/>
          </a:xfrm>
          <a:prstGeom prst="rect">
            <a:avLst/>
          </a:prstGeom>
          <a:solidFill>
            <a:srgbClr val="7AA8C4"/>
          </a:solidFill>
          <a:ln w="12700">
            <a:solidFill>
              <a:srgbClr val="7AA8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Transformer Noise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9744" y="4151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DTs misclassified as fraud, sending inspectors on futile visits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 — Energy Forensics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 separates fraud from technical loss using a single linear regression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4160520" cy="35204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" cy="352044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Loss (I²R Physics)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481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scales with load SQUARED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load = more heat loss in wires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Loss% correlates perfectly with load level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 close to 1.0 in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Intercept stays small (&lt;3%)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" y="2523744"/>
            <a:ext cx="3749040" cy="16459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Loss (Fraud)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87121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steals a FIXED amount daily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kWh stolen at 30% or 90% feeder 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Loss becomes load-INDEPENDENT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R² collapses toward zero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Intercept jumps high (&gt;10%+)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3913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lines of scipy.stats.linregress</a:t>
            </a:r>
            <a:endParaRPr lang="en-US" sz="1050" dirty="0"/>
          </a:p>
          <a:p>
            <a:pPr indent="0" marL="0">
              <a:buNone/>
            </a:pPr>
            <a:r>
              <a:rPr lang="en-US" sz="1050" b="1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entire detection algorithm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60520" cy="35204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50292" cy="3520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R² + Intercept Tells You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9744" y="1591056"/>
            <a:ext cx="1170432" cy="457200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5910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0.70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&lt; 3%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53328" y="16276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TECHNICAL_CLEAN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I²R physics only. No action.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9744" y="2157984"/>
            <a:ext cx="1170432" cy="4572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215798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&lt; 0.30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&gt; 8%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53328" y="219456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COMMERCIAL_DOMINANT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Load-independent. Investigate.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9744" y="2724912"/>
            <a:ext cx="1170432" cy="4572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72491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Night/Day ratio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20×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53328" y="276148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BYPASS_SIGNATURE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CRITICAL. Night inspection.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3291840"/>
            <a:ext cx="1170432" cy="4572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29184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change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+5.65% Day 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53328" y="332841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NEW_TAMPER_EVENT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Daytime meter audit.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3858768"/>
            <a:ext cx="1170432" cy="45720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85876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0.86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80%+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53328" y="389534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COMMERCIAL_DOMINANT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connection. Inspect.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6-Layer Hardened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independently testable · No silent failures · All signals typed and logged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188720"/>
          </a:xfrm>
          <a:prstGeom prst="rect">
            <a:avLst/>
          </a:prstGeom>
          <a:solidFill>
            <a:srgbClr val="7AA8C4"/>
          </a:solidFill>
          <a:ln w="12700">
            <a:solidFill>
              <a:srgbClr val="7AA8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188720"/>
            <a:ext cx="347472" cy="256032"/>
          </a:xfrm>
          <a:prstGeom prst="rect">
            <a:avLst/>
          </a:prstGeom>
          <a:solidFill>
            <a:srgbClr val="7AA8C4"/>
          </a:solidFill>
          <a:ln w="12700">
            <a:solidFill>
              <a:srgbClr val="7AA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88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11521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Clock Sync Gate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536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reading classifier: VALID / SUSPECT_SPIKE / MISSING / DROPOUT / PREPAID_DEPLETION / NEGATIVE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377440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377440"/>
            <a:ext cx="50292" cy="118872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2487168"/>
            <a:ext cx="347472" cy="2560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487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Asset-Aware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Correction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age factor + power factor correction per consumer type. Aging DTs get separate intercept baseline.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3675888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675888"/>
            <a:ext cx="50292" cy="11887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3785616"/>
            <a:ext cx="34747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37856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2688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Energy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4133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DT Input − ΣMeters. Computed every 15 minutes. Cohort-median imputation for dead meters.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9744" y="1078992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9744" y="1078992"/>
            <a:ext cx="50292" cy="11887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1188720"/>
            <a:ext cx="347472" cy="25603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1887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94960" y="11521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Fingerprinting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(Core)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5361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Per-DT linear regression over 30-day window. R² + intercept + night-peak → 5-pattern taxonomy.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9744" y="2377440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2377440"/>
            <a:ext cx="50292" cy="1188720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487168"/>
            <a:ext cx="347472" cy="256032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4871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2450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+ LightGBM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834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decomposition → LightGBM on residuals. 12 features. SHAP pre-cached. 24h headroom score per DT.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9744" y="3675888"/>
            <a:ext cx="4279392" cy="11887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9744" y="3675888"/>
            <a:ext cx="50292" cy="11887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3785616"/>
            <a:ext cx="347472" cy="25603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7856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749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Priority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Generator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4133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Revenue-ranked dispatch. log1p scoring. Separate inspection vs maintenance queues. Evidence briefs.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Network — generate_data.py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259,200 realistic meter readings · 3 feeders · 15 DTs · 60 meters · 45 days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1874520" cy="9601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1338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21408" y="1078992"/>
            <a:ext cx="1874520" cy="9601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1338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21408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078992"/>
            <a:ext cx="1874520" cy="9601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95344" y="11338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95344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0" y="1078992"/>
            <a:ext cx="1874520" cy="9601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1338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0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Slots/Meter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43216" y="1078992"/>
            <a:ext cx="1874520" cy="9601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43216" y="113385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43216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Planted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2176272"/>
            <a:ext cx="5047488" cy="19202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176272"/>
            <a:ext cx="50292" cy="192024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2677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Topology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5786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F_JAYANAGAR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07792" y="25786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DTs · RESIDENTIAL heavy · age 6–20yr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035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F_BTM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07792" y="30358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DTs · COMMERCIAL_LIGHT + HEAVY · age 3–18yr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493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F_KORAMANGALA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07792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DTs · MIXED · age 7–22yr · holds all 3 anomalies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2176272"/>
            <a:ext cx="3218688" cy="19202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2176272"/>
            <a:ext cx="50292" cy="192024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24144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Profile Models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724144" y="257860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— morning + evening peaks, April AC surge +25%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24144" y="29809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COMMERCIAL_LIGHT — 9am–9pm, weekends -30%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24144" y="338328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COMMERCIAL_HEAVY — 3-shift pattern (0.6/0.85/1.0 factor)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24144" y="378561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loss = I²R(load²) + core 1.5% + age factor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" y="41696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Anomaly Specifications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7472" y="44256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BYPASS_SIGNATURE</a:t>
            </a:r>
            <a:pPr indent="0" marL="0">
              <a:buNone/>
            </a:pPr>
            <a:r>
              <a:rPr lang="en-US" sz="10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BTMSTG-DT-14 · 3 meters × 45% reduction · 10pm–4am nightly · Commercial-Light DT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" y="46542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NEW_TAMPER_EVENT</a:t>
            </a:r>
            <a:pPr indent="0" marL="0">
              <a:buNone/>
            </a:pPr>
            <a:r>
              <a:rPr lang="en-US" sz="10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JAYNGR-DT-07 · 1 meter reads 70% of real value · from Day 15 forward only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COMMERCIAL_DOMINANT</a:t>
            </a:r>
            <a:pPr indent="0" marL="0">
              <a:buNone/>
            </a:pPr>
            <a:r>
              <a:rPr lang="en-US" sz="10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KORAMGLA-DT-22 · +2.5 kWh/slot constant unbilled load on DT input · no matching meter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Fingerprinting Engine — The 5-Line Algorithm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beats black-box ML — any field engineer can verify this on a whiteboard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504748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" cy="18105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88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Regression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3776" y="1435608"/>
            <a:ext cx="4800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corrected_loss = loss_pct − age_factor − pf_factor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slope, intercept, r_value, p_value, std_err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linregress(dt_input_kwh, corrected_loss)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r_squared = r_value **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Classify into 5 patterns using R², intercept, night_peak, step_change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980944"/>
            <a:ext cx="5047488" cy="162763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980944"/>
            <a:ext cx="50292" cy="16276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07238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Guards (v2.0)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" y="3328416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 variance check: peak/valley ≥ 2× before running regression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3575304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Night-peak flag: night &gt; day × 1.3 AND night &gt; 5% absolute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" y="3822192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Step detection on full 45-day window, relative threshold: max(3%, 30% × first-half intercept)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4069080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4-condition gate: avg_corrected &gt;6%, intercept &gt;6%, feeder imbalance, revenue materiality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" y="4315968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values cast to np.float64 before JSON serialisation — no dtype crashes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59552" y="1097280"/>
            <a:ext cx="3255264" cy="351129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59552" y="1097280"/>
            <a:ext cx="50292" cy="3511296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11887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5-Pattern Taxonomy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05856" y="1609344"/>
            <a:ext cx="50292" cy="5303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162763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BYPASS_SIGNATURE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33872" y="186537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peak&gt;20× + intercept&gt;10%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· Night visit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05856" y="2249424"/>
            <a:ext cx="50292" cy="5303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26771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NEW_TAMPER_EVENT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33872" y="250545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jump &gt;30% of baseline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· Daytime audit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705856" y="2889504"/>
            <a:ext cx="50292" cy="53035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290779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COMMERCIAL_DOMINANT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33872" y="314553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R²&gt;0.70 + intercept&gt;20%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· Unbilled connection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05856" y="3529584"/>
            <a:ext cx="50292" cy="5303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54787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AGING_TRANSFORMER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33872" y="378561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Age&gt;15 + intercept 2.5–6%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MAINTENANCE · Replace DT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05856" y="4169664"/>
            <a:ext cx="50292" cy="530352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418795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TECHNICAL_CLEAN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33872" y="442569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intercept, no fraud signal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· Monitor only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Results — All 3 Anomalies Found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ranked #1 via log1p scoring · Revenue in rupee ranges · Zero false positives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2852928" cy="37490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2852928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 ·  CRITICAL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BTMSTG-DT-14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SIGNATURE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1975104"/>
            <a:ext cx="2615184" cy="1280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20299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3408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20.93%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Night/Day: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651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ratio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962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₹1,847–₹2,499/mo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273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10pm–2am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584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584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days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12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Night-peak physically impossible without bypass wiring. All 4 conditions met.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1078992"/>
            <a:ext cx="2852928" cy="37490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078992"/>
            <a:ext cx="2852928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097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  ·  HIGH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83280" y="1499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KORAMGLA-DT-22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83280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DOMINANT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1975104"/>
            <a:ext cx="2615184" cy="1280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15968" y="20299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15968" y="23408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80.57%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Night/Day: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15968" y="2651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Load-correlated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15968" y="2962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₹26,534–₹35,900/mo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83280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15968" y="3273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10am–4pm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83280" y="3584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15968" y="3584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+ enormous intercept = constant unbilled load perfectly correlated with feeder.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36208" y="1078992"/>
            <a:ext cx="2852928" cy="374904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36208" y="1078992"/>
            <a:ext cx="2852928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1097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  ·  HIGH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327648" y="14996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JAYNGR-DT-07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327648" y="1737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TAMPER EVENT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27648" y="1975104"/>
            <a:ext cx="2615184" cy="1280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2029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60336" y="202996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27648" y="2340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60336" y="23408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10.06%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27648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Change: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60336" y="26517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+5.65%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27648" y="29626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60336" y="296265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₹3,631–₹4,912/mo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327648" y="3273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60336" y="32735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10am–4pm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27648" y="3584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60336" y="35844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27648" y="3931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intercept jump from Day 15. 45-day window confirms pre/post regression divergence.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47472" y="4882896"/>
            <a:ext cx="8449056" cy="40233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47472" y="4882896"/>
            <a:ext cx="50292" cy="40233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49286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— JAYNGR-DT-04 (age 20yr) + KORAMGLA-DT-21 (age 22yr) · Intercept 3.25% vs clean baseline 1.2% · Correctly routed to transformer replacement queue, NOT inspection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— STL + LightGBM Demand Forecasting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 before ML · 12-feature engineering · SHAP pre-cached · Headroom scoring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97280"/>
            <a:ext cx="4133088" cy="217627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97280"/>
            <a:ext cx="50292" cy="217627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STL First?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463040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separates the load series into 4 components: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(slow-moving baseline)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seasonality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seasonality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Residual ← LightGBM trains on this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learns anomalies and short-term deviations, not repeating patterns it would overfit to.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3364992"/>
            <a:ext cx="4133088" cy="124358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364992"/>
            <a:ext cx="50292" cy="124358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456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Protocol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37124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 with &lt;21 days history: proxy forecast from nearest 3 similar DTs by consumer type. Labelled PROXY FORECAST in UI. Cannot reach HIGH priority until 21-day native window completes.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51376" cy="164592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50292" cy="164592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(12 features)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4813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Time: hour, day-of-week, month, slot (0–95), is_weekend, is_holiday (Karnataka calendar)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88366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Lag: load at t-1h, t-24h, t-168h (same slot last week)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28600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Rolling: 24h mean + std, 7-day rolling mean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16352"/>
            <a:ext cx="4151376" cy="914400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16352"/>
            <a:ext cx="50292" cy="91440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3163824"/>
            <a:ext cx="3877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SHAP values pre-computed and cached to disk before demo. np.float64 cast ensures JSON safety. Never computed live — zero latency risk during presentation.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803904"/>
            <a:ext cx="4151376" cy="80467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803904"/>
            <a:ext cx="50292" cy="804672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389534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= (DT Capacity − Forecasted Peak) / Capacity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 &lt;15% · AMBER 15–30% · GREEN &gt;30%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LightGBM models · 80/20 time-stratified split · Early stopping at 10 rounds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Priority Queue — Revenue-Ranked Dispatch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scoring prevents revenue bias · Pattern-aware visit times · Separate maintenance queue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47472" y="1133856"/>
          <a:ext cx="502920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59552" y="1133856"/>
            <a:ext cx="3255264" cy="151790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59552" y="1133856"/>
            <a:ext cx="50292" cy="15179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05856" y="1225296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Scoring Formula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05856" y="1499616"/>
            <a:ext cx="3017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priority_weight (CRITICAL=100)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min(50, log1p(rev_high))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min(20, days_persistent)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log1p: CRITICAL bypass stays #1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with lower rupee value.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59552" y="2743200"/>
            <a:ext cx="3255264" cy="841248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59552" y="2743200"/>
            <a:ext cx="50292" cy="84124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05856" y="283464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Queue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05856" y="307238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+ HIGH fraud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= night visit · Others = daytime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59552" y="3657600"/>
            <a:ext cx="3255264" cy="841248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59552" y="3657600"/>
            <a:ext cx="50292" cy="84124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05856" y="374904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Queue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05856" y="398678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AGING_TRANSFORMER pattern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₹0 (physics, not recoverable)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7472" y="4572000"/>
            <a:ext cx="5047488" cy="4389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3776" y="46268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Recoverable (Inspection Only):  ₹31,312–₹43,311/mo  ·  ₹3.75L–₹5.2L/year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App — 4-Page Intelligence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 · Pattern-driven explanations · All values computed live from fingerprinting 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4242816" cy="179222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79222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Zone Risk Map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" y="14996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Plotly Scattermap: 15 DTs color-coded CRITICAL→red, MAINTENANCE→blue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8242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5-column KPI row all computed live from fp_df and queue_df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3776" y="21488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DT Status Summary table: MAINTENANCE cells blue, CRITICAL red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24734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Hover tooltip: pattern, avg loss%, rev estimate, priority label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73168" y="1078992"/>
            <a:ext cx="4242816" cy="179222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078992"/>
            <a:ext cx="50292" cy="179222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Inspector Queue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9472" y="149961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Revenue-ranked cards — CRITICAL always #1 via log1p scoring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18242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Evidence string (130 char max): R², night-peak, step change, days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19472" y="21488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Maintenance Queue: aging DTs labelled 'not recoverable by inspection'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19472" y="247345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Demo Validation: confirms all 3 planted anomalies detected with rank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99232"/>
            <a:ext cx="4242816" cy="179222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999232"/>
            <a:ext cx="50292" cy="1792224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DT Drill-Down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34198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Loss-Load Scatter: regression line overlay, night readings red-highlighted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" y="37444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Time-Series: daily avg loss% · anomaly markers from data_start (not hardcoded)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40690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Pattern-based explanation block driven by fingerprinting engine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" y="43936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Evidence captions: night-peak (BYPASS only) · step change magnitude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73168" y="2999232"/>
            <a:ext cx="4242816" cy="1792224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2999232"/>
            <a:ext cx="50292" cy="179222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Loss Scatter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19472" y="341985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R² vs Intercept scatter for all 15 DTs — the fingerprint map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19472" y="374446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Color by priority · marker_size clipped ≥4 to prevent negative size crash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9472" y="406908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Fraud zone (top-left) vs Technical zone (bottom-right) annotations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19472" y="439369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Explainer panel: how to read R² + intercept for judges and BESCOM staff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Loopholes Identified &amp; Systematically Resolved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analysis: hostile jury + BESCOM field engineer + competing team perspective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1133856"/>
            <a:ext cx="402336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13385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" y="11338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Sync Noise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13350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 rolling avg for high-variance DTs · materiality floor per DT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0896" y="1792224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79222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179222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— Industrial DTs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86384" y="19933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Consumer-type tag + PF correction · PF-UNCERTAIN raises evidence threshold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2450592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45059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6384" y="245059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Regime Shifts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" y="26517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extends 21→35 days during April AC surge season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0896" y="3108960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31089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" y="31089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Too Small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" y="33101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15 meters required · fallback feeder+type → zone+type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0896" y="3767328"/>
            <a:ext cx="402336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76732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6384" y="37673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Mimics Fraud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" y="3968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Age+intercept+no night_peak → MAINTENANCE queue, not inspection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" y="4425696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442569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" y="44256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Tariff Revenue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" y="462686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Consumer-type tariff: residential ₹4.5, commercial ₹7.5, shown as range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28032" y="1133856"/>
            <a:ext cx="402336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1133856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03520" y="113385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Input Tampered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0" y="133502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input vs feeder topology → metering team, not inspector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1792224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79222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0" y="179222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New DTs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199339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forecast · max MEDIUM until 21-day native window completes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28032" y="2450592"/>
            <a:ext cx="402336" cy="34747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45059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2450592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Depletion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26517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meter_type field · balance depletion excluded from anomaly logic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28032" y="3108960"/>
            <a:ext cx="402336" cy="34747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108960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303520" y="31089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Gaming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0" y="33101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embedded in closure · quality score per inspector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28032" y="3767328"/>
            <a:ext cx="402336" cy="347472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67328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303520" y="376732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Build Risk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0" y="3968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pre-cached · core demo = 2 screens · buffer in build plan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100% Open Source, 100% Pip-Installable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for demo · Cross-platform relative paths · All packages standard pip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8321040" cy="2011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50292" cy="18105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0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5179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pandas + numpy (data engine)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scipy.stats.linregress (core)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21762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pyarrow (6 parquet files)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" y="2505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json + os (configs)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78992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78992"/>
            <a:ext cx="50292" cy="181051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1170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Forecasting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38144" y="15179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lightgbm (LGBMRegressor)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38144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statsmodels STLForecast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38144" y="21762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scikit-learn (MAE metric)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38144" y="2505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shap (TreeExplainer, pre-cached)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36208" y="1078992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6208" y="1078992"/>
            <a:ext cx="50292" cy="1810512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170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82512" y="15179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rolling windows (pandas)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82512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4-condition gate logic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82512" y="21762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log1p queue scoring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82512" y="25054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relative threshold step detection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017520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017520"/>
            <a:ext cx="50292" cy="1810512"/>
          </a:xfrm>
          <a:prstGeom prst="rect">
            <a:avLst/>
          </a:prstGeom>
          <a:solidFill>
            <a:srgbClr val="21C55D"/>
          </a:solidFill>
          <a:ln w="12700">
            <a:solidFill>
              <a:srgbClr val="21C5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1089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C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" y="3456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streamlit (dashboard)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" y="37856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plotly Scattermap (map)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plotly.express (scatter)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" y="4443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plotly.graph_objects (charts)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017520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017520"/>
            <a:ext cx="50292" cy="181051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31089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38144" y="3456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 parquet data files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38144" y="37856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JSON registry + SHAP cache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38144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15 pickle LightGBM models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38144" y="4443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relative paths (cross-OS)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017520"/>
            <a:ext cx="2852928" cy="1810512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3017520"/>
            <a:ext cx="50292" cy="1810512"/>
          </a:xfrm>
          <a:prstGeom prst="rect">
            <a:avLst/>
          </a:prstGeom>
          <a:solidFill>
            <a:srgbClr val="7AA8C4"/>
          </a:solidFill>
          <a:ln w="12700">
            <a:solidFill>
              <a:srgbClr val="7AA8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82512" y="310896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82512" y="34564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ast.parse() syntax checks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82512" y="378561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12-point fix verification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82512" y="411480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hardcoded Linux paths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82512" y="444398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 hardcoded UI values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6583680" cy="6583680"/>
          </a:xfrm>
          <a:prstGeom prst="ellipse">
            <a:avLst/>
          </a:prstGeom>
          <a:solidFill>
            <a:srgbClr val="001830"/>
          </a:solidFill>
          <a:ln w="5080">
            <a:solidFill>
              <a:srgbClr val="00E5C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1920240"/>
            <a:ext cx="3840480" cy="3840480"/>
          </a:xfrm>
          <a:prstGeom prst="ellipse">
            <a:avLst/>
          </a:prstGeom>
          <a:solidFill>
            <a:srgbClr val="001020"/>
          </a:solidFill>
          <a:ln w="508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Classifies.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Decides.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5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Recovers.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Improves.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62656"/>
            <a:ext cx="1609344" cy="104241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₹5.2L+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Recoverable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9696" y="2962656"/>
            <a:ext cx="1609344" cy="104241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39696" y="3017520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39696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22192" y="2962656"/>
            <a:ext cx="1609344" cy="104241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22192" y="3017520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22192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04688" y="2962656"/>
            <a:ext cx="1609344" cy="104241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04688" y="3017520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04688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Loopholes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87184" y="2962656"/>
            <a:ext cx="1609344" cy="1042416"/>
          </a:xfrm>
          <a:prstGeom prst="rect">
            <a:avLst/>
          </a:prstGeom>
          <a:solidFill>
            <a:srgbClr val="0F1E3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3017520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87184" y="35295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82296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Yeshwanth Reddy P G</a:t>
            </a:r>
            <a:pPr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Researcher: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</a:t>
            </a:r>
            <a:pPr indent="0" marL="0">
              <a:buNone/>
            </a:pPr>
            <a:r>
              <a:rPr lang="en-US" sz="11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Debugger: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Bezaleel Paul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University · 1st Year CSE / AI-ML  ·  PAN IIT AI for Bharat 2026  ·  Theme 8 · BESCOM Smart Meters  ·  Taj Yeshwantpur, Bengaluru  ·  May 16,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Urja AI v2.0 — BESCOM Smart Grid Intelligence</dc:title>
  <dc:subject>PptxGenJS Presentation</dc:subject>
  <dc:creator>Yeshwanth Reddy P G</dc:creator>
  <cp:lastModifiedBy>Yeshwanth Reddy P G</cp:lastModifiedBy>
  <cp:revision>1</cp:revision>
  <dcterms:created xsi:type="dcterms:W3CDTF">2026-05-06T03:30:56Z</dcterms:created>
  <dcterms:modified xsi:type="dcterms:W3CDTF">2026-05-06T03:30:56Z</dcterms:modified>
</cp:coreProperties>
</file>